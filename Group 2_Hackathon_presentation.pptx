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8"/>
      <p:bold r:id="rId9"/>
      <p:italic r:id="rId10"/>
      <p:boldItalic r:id="rId11"/>
    </p:embeddedFont>
    <p:embeddedFont>
      <p:font typeface="Helvetica Neue Light" panose="02000403000000020004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BF12CF-B0CF-4874-9466-F30EE398E771}">
  <a:tblStyle styleId="{47BF12CF-B0CF-4874-9466-F30EE398E7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24CCFC-DB04-4D98-B21B-F3D3B1768B9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82"/>
  </p:normalViewPr>
  <p:slideViewPr>
    <p:cSldViewPr snapToGrid="0">
      <p:cViewPr>
        <p:scale>
          <a:sx n="144" d="100"/>
          <a:sy n="144" d="100"/>
        </p:scale>
        <p:origin x="512" y="4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1571083b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8c1571083b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c1571083b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8c1571083b_2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8c1571083b_2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c1571083b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8c1571083b_2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8c1571083b_2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c1571083b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8c1571083b_2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8c1571083b_2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-2257"/>
            <a:ext cx="9144000" cy="914400"/>
          </a:xfrm>
          <a:prstGeom prst="rect">
            <a:avLst/>
          </a:prstGeom>
          <a:solidFill>
            <a:srgbClr val="4401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351382" y="2257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None/>
              <a:defRPr sz="21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 idx="2"/>
          </p:nvPr>
        </p:nvSpPr>
        <p:spPr>
          <a:xfrm>
            <a:off x="1872276" y="1573875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 idx="3"/>
          </p:nvPr>
        </p:nvSpPr>
        <p:spPr>
          <a:xfrm>
            <a:off x="5616001" y="1573875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872263" y="2272275"/>
            <a:ext cx="2384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4"/>
          </p:nvPr>
        </p:nvSpPr>
        <p:spPr>
          <a:xfrm>
            <a:off x="5615988" y="2272275"/>
            <a:ext cx="2384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 idx="5"/>
          </p:nvPr>
        </p:nvSpPr>
        <p:spPr>
          <a:xfrm>
            <a:off x="1872276" y="3336425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title" idx="6"/>
          </p:nvPr>
        </p:nvSpPr>
        <p:spPr>
          <a:xfrm>
            <a:off x="5616001" y="3336425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Helvetica Neue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7"/>
          </p:nvPr>
        </p:nvSpPr>
        <p:spPr>
          <a:xfrm>
            <a:off x="1872289" y="4034825"/>
            <a:ext cx="2384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8"/>
          </p:nvPr>
        </p:nvSpPr>
        <p:spPr>
          <a:xfrm>
            <a:off x="5615992" y="4034825"/>
            <a:ext cx="2384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 idx="9"/>
          </p:nvPr>
        </p:nvSpPr>
        <p:spPr>
          <a:xfrm>
            <a:off x="720000" y="1573875"/>
            <a:ext cx="914400" cy="77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 idx="13"/>
          </p:nvPr>
        </p:nvSpPr>
        <p:spPr>
          <a:xfrm>
            <a:off x="720000" y="3336425"/>
            <a:ext cx="914400" cy="77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 idx="14"/>
          </p:nvPr>
        </p:nvSpPr>
        <p:spPr>
          <a:xfrm>
            <a:off x="4461005" y="1573875"/>
            <a:ext cx="914400" cy="77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 idx="15"/>
          </p:nvPr>
        </p:nvSpPr>
        <p:spPr>
          <a:xfrm>
            <a:off x="4461005" y="3336425"/>
            <a:ext cx="914400" cy="77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260033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75" name="Google Shape;75;p15" descr="Support Bocconi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12216" y="284140"/>
            <a:ext cx="1574117" cy="341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 sz="33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4292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800" b="0" i="0" u="none" strike="noStrike" cap="none">
              <a:solidFill>
                <a:srgbClr val="888888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GOs: allies or adversaries? EPP's campaign sparks EU parliament rift –  EUalive">
            <a:extLst>
              <a:ext uri="{FF2B5EF4-FFF2-40B4-BE49-F238E27FC236}">
                <a16:creationId xmlns:a16="http://schemas.microsoft.com/office/drawing/2014/main" id="{C01087D8-6E78-F4B0-3E10-FD13476DD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Google Shape;114;p26"/>
          <p:cNvSpPr/>
          <p:nvPr/>
        </p:nvSpPr>
        <p:spPr>
          <a:xfrm>
            <a:off x="3496800" y="1329820"/>
            <a:ext cx="5647200" cy="29841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401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6"/>
          <p:cNvSpPr txBox="1">
            <a:spLocks noGrp="1"/>
          </p:cNvSpPr>
          <p:nvPr>
            <p:ph type="ctrTitle"/>
          </p:nvPr>
        </p:nvSpPr>
        <p:spPr>
          <a:xfrm>
            <a:off x="3736546" y="1696407"/>
            <a:ext cx="5721600" cy="13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lt1"/>
              </a:buClr>
              <a:buSzPts val="3600"/>
            </a:pPr>
            <a:r>
              <a:rPr lang="en-GB" sz="3600" dirty="0">
                <a:solidFill>
                  <a:schemeClr val="bg1"/>
                </a:solidFill>
              </a:rPr>
              <a:t>Impact of NGO Campaigns on Bank Stocks</a:t>
            </a:r>
            <a:endParaRPr sz="3600" b="1" dirty="0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6" name="Google Shape;116;p26"/>
          <p:cNvGraphicFramePr/>
          <p:nvPr>
            <p:extLst>
              <p:ext uri="{D42A27DB-BD31-4B8C-83A1-F6EECF244321}">
                <p14:modId xmlns:p14="http://schemas.microsoft.com/office/powerpoint/2010/main" val="2652133234"/>
              </p:ext>
            </p:extLst>
          </p:nvPr>
        </p:nvGraphicFramePr>
        <p:xfrm>
          <a:off x="3867177" y="3412393"/>
          <a:ext cx="4493051" cy="631250"/>
        </p:xfrm>
        <a:graphic>
          <a:graphicData uri="http://schemas.openxmlformats.org/drawingml/2006/table">
            <a:tbl>
              <a:tblPr>
                <a:noFill/>
                <a:tableStyleId>{47BF12CF-B0CF-4874-9466-F30EE398E771}</a:tableStyleId>
              </a:tblPr>
              <a:tblGrid>
                <a:gridCol w="4493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lang="en-GB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Group 2 Hackathon</a:t>
                      </a:r>
                      <a:endParaRPr lang="en-GB" sz="11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lang="en-GB" sz="1400" b="0" i="0" u="none" strike="noStrike" cap="none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Arial"/>
                        </a:rPr>
                        <a:t>Luca Milani, Marta Laskowska, Monika Kaczorowska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" name="Google Shape;117;p26"/>
          <p:cNvSpPr txBox="1"/>
          <p:nvPr/>
        </p:nvSpPr>
        <p:spPr>
          <a:xfrm>
            <a:off x="10287000" y="1801907"/>
            <a:ext cx="13854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6" descr="Support Bocconi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741" y="500926"/>
            <a:ext cx="1574117" cy="341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/>
          <p:nvPr/>
        </p:nvSpPr>
        <p:spPr>
          <a:xfrm>
            <a:off x="0" y="0"/>
            <a:ext cx="9144000" cy="901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401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7"/>
          <p:cNvSpPr txBox="1">
            <a:spLocks noGrp="1"/>
          </p:cNvSpPr>
          <p:nvPr>
            <p:ph type="title"/>
          </p:nvPr>
        </p:nvSpPr>
        <p:spPr>
          <a:xfrm>
            <a:off x="351382" y="2257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Methodologies</a:t>
            </a:r>
            <a:endParaRPr dirty="0"/>
          </a:p>
        </p:txBody>
      </p:sp>
      <p:sp>
        <p:nvSpPr>
          <p:cNvPr id="127" name="Google Shape;127;p27"/>
          <p:cNvSpPr txBox="1">
            <a:spLocks noGrp="1"/>
          </p:cNvSpPr>
          <p:nvPr>
            <p:ph type="ftr" idx="11"/>
          </p:nvPr>
        </p:nvSpPr>
        <p:spPr>
          <a:xfrm>
            <a:off x="260024" y="4767275"/>
            <a:ext cx="3671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Finance for Big Data 2025 Hackathon – Group 2 (</a:t>
            </a:r>
            <a:r>
              <a:rPr lang="en" dirty="0" err="1"/>
              <a:t>eda</a:t>
            </a:r>
            <a:r>
              <a:rPr lang="en" dirty="0"/>
              <a:t>, task 4-5-6)</a:t>
            </a:r>
            <a:endParaRPr dirty="0"/>
          </a:p>
        </p:txBody>
      </p:sp>
      <p:grpSp>
        <p:nvGrpSpPr>
          <p:cNvPr id="128" name="Google Shape;128;p27"/>
          <p:cNvGrpSpPr/>
          <p:nvPr/>
        </p:nvGrpSpPr>
        <p:grpSpPr>
          <a:xfrm>
            <a:off x="666732" y="1309347"/>
            <a:ext cx="8010939" cy="773561"/>
            <a:chOff x="755374" y="1537252"/>
            <a:chExt cx="10681252" cy="842200"/>
          </a:xfrm>
        </p:grpSpPr>
        <p:sp>
          <p:nvSpPr>
            <p:cNvPr id="129" name="Google Shape;129;p27"/>
            <p:cNvSpPr/>
            <p:nvPr/>
          </p:nvSpPr>
          <p:spPr>
            <a:xfrm>
              <a:off x="755374" y="1876532"/>
              <a:ext cx="10681252" cy="502920"/>
            </a:xfrm>
            <a:prstGeom prst="rect">
              <a:avLst/>
            </a:prstGeom>
            <a:solidFill>
              <a:srgbClr val="D0CEC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lvl="0" algn="ctr"/>
              <a:r>
                <a:rPr lang="en-GB" dirty="0">
                  <a:solidFill>
                    <a:schemeClr val="dk1"/>
                  </a:solidFill>
                  <a:latin typeface="Helvetica Neue Light"/>
                  <a:ea typeface="Helvetica Neue Light"/>
                </a:rPr>
                <a:t>“Do NGO campaigns influence bank stock performance, and does this effect depend on campaign sentiment or region?”</a:t>
              </a:r>
              <a:endParaRPr dirty="0">
                <a:solidFill>
                  <a:schemeClr val="dk1"/>
                </a:solidFill>
                <a:latin typeface="Helvetica Neue Light"/>
                <a:ea typeface="Helvetica Neue Light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755374" y="1537252"/>
              <a:ext cx="10681252" cy="34728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Research Question</a:t>
              </a:r>
              <a:endParaRPr sz="1100"/>
            </a:p>
          </p:txBody>
        </p:sp>
      </p:grpSp>
      <p:pic>
        <p:nvPicPr>
          <p:cNvPr id="131" name="Google Shape;131;p27" descr="Support Boccon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6616" y="341301"/>
            <a:ext cx="1574118" cy="3416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p27"/>
          <p:cNvGraphicFramePr/>
          <p:nvPr>
            <p:extLst>
              <p:ext uri="{D42A27DB-BD31-4B8C-83A1-F6EECF244321}">
                <p14:modId xmlns:p14="http://schemas.microsoft.com/office/powerpoint/2010/main" val="4206466059"/>
              </p:ext>
            </p:extLst>
          </p:nvPr>
        </p:nvGraphicFramePr>
        <p:xfrm>
          <a:off x="666733" y="2735075"/>
          <a:ext cx="2594750" cy="1376612"/>
        </p:xfrm>
        <a:graphic>
          <a:graphicData uri="http://schemas.openxmlformats.org/drawingml/2006/table">
            <a:tbl>
              <a:tblPr bandRow="1">
                <a:noFill/>
                <a:tableStyleId>{E624CCFC-DB04-4D98-B21B-F3D3B1768B92}</a:tableStyleId>
              </a:tblPr>
              <a:tblGrid>
                <a:gridCol w="259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6612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sym typeface="Arial"/>
                        </a:rPr>
                        <a:t>Daily stock prices and returns for European, UK, US, and Scandinavian banks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sym typeface="Arial"/>
                        </a:rPr>
                        <a:t>Fama–French market factors (US &amp; Europe),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sym typeface="Arial"/>
                        </a:rPr>
                        <a:t>NGO campaign events from </a:t>
                      </a:r>
                      <a:r>
                        <a:rPr lang="en-GB" sz="1200" b="0" i="0" u="none" strike="noStrike" cap="none" dirty="0" err="1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sym typeface="Arial"/>
                        </a:rPr>
                        <a:t>Sigwatch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sym typeface="Arial"/>
                        </a:rPr>
                        <a:t> (with sentiment scores).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4" name="Google Shape;134;p27"/>
              <p:cNvGraphicFramePr/>
              <p:nvPr>
                <p:extLst>
                  <p:ext uri="{D42A27DB-BD31-4B8C-83A1-F6EECF244321}">
                    <p14:modId xmlns:p14="http://schemas.microsoft.com/office/powerpoint/2010/main" val="2720907532"/>
                  </p:ext>
                </p:extLst>
              </p:nvPr>
            </p:nvGraphicFramePr>
            <p:xfrm>
              <a:off x="3598332" y="2732725"/>
              <a:ext cx="5079339" cy="1376612"/>
            </p:xfrm>
            <a:graphic>
              <a:graphicData uri="http://schemas.openxmlformats.org/drawingml/2006/table">
                <a:tbl>
                  <a:tblPr bandRow="1">
                    <a:noFill/>
                    <a:tableStyleId>{E624CCFC-DB04-4D98-B21B-F3D3B1768B92}</a:tableStyleId>
                  </a:tblPr>
                  <a:tblGrid>
                    <a:gridCol w="5079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376612">
                    <a:tc>
                      <a:txBody>
                        <a:bodyPr/>
                        <a:lstStyle/>
                        <a:p>
                          <a:pPr marL="171450" lvl="1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GB" sz="1200" b="0" i="0" u="none" strike="noStrike" cap="none" dirty="0">
                              <a:solidFill>
                                <a:schemeClr val="dk1"/>
                              </a:solidFill>
                              <a:latin typeface="Helvetica Neue Light"/>
                              <a:ea typeface="Helvetica Neue Light"/>
                              <a:cs typeface="Calibri"/>
                              <a:sym typeface="Arial"/>
                            </a:rPr>
                            <a:t>FF3 by region (US factors for US banks; EU factors for EU/UK).</a:t>
                          </a:r>
                        </a:p>
                        <a:p>
                          <a:pPr marL="171450" lvl="1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GB" sz="1200" b="0" i="0" u="none" strike="noStrike" cap="none" dirty="0">
                              <a:solidFill>
                                <a:schemeClr val="dk1"/>
                              </a:solidFill>
                              <a:latin typeface="Helvetica Neue Light"/>
                              <a:ea typeface="Helvetica Neue Light"/>
                              <a:cs typeface="Calibri"/>
                              <a:sym typeface="Arial"/>
                            </a:rPr>
                            <a:t>Cross-sectional &amp; rolling betas: </a:t>
                          </a:r>
                        </a:p>
                        <a:p>
                          <a:pPr lvl="1"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−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𝑅𝐹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=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𝛼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  <m:t>𝑀𝑘𝑡</m:t>
                                  </m:r>
                                  <m: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  <m:t>−</m:t>
                                  </m:r>
                                  <m:r>
                                    <a:rPr lang="ar-AE" sz="1200" b="0" i="0" u="none" strike="noStrike" cap="none">
                                      <a:solidFill>
                                        <a:schemeClr val="dk1"/>
                                      </a:solidFill>
                                      <a:latin typeface="Calibri"/>
                                      <a:ea typeface="Calibri"/>
                                      <a:cs typeface="Calibri"/>
                                      <a:sym typeface="Arial"/>
                                    </a:rPr>
                                    <m:t>𝑅𝐹</m:t>
                                  </m:r>
                                </m:e>
                              </m:d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+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𝑠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⋅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𝑆𝑀𝐵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+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h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⋅</m:t>
                              </m:r>
                              <m:r>
                                <a:rPr lang="ar-AE" sz="1200" b="0" i="0" u="none" strike="noStrike" cap="non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Arial"/>
                                </a:rPr>
                                <m:t>𝐻𝑀𝐿</m:t>
                              </m:r>
                            </m:oMath>
                          </a14:m>
                          <a:r>
                            <a:rPr lang="ar-AE" sz="1200" b="0" i="0" u="none" strike="noStrike" cap="none" dirty="0">
                              <a:solidFill>
                                <a:schemeClr val="dk1"/>
                              </a:solidFill>
                              <a:latin typeface="Helvetica Neue Light"/>
                              <a:ea typeface="Helvetica Neue Light"/>
                              <a:cs typeface="Calibri"/>
                              <a:sym typeface="Arial"/>
                            </a:rPr>
                            <a:t>.</a:t>
                          </a:r>
                          <a:endParaRPr lang="it-IT" sz="1200" b="0" i="0" u="none" strike="noStrike" cap="none" dirty="0">
                            <a:solidFill>
                              <a:schemeClr val="dk1"/>
                            </a:solidFill>
                            <a:latin typeface="Helvetica Neue Light"/>
                            <a:ea typeface="Helvetica Neue Light"/>
                            <a:cs typeface="Calibri"/>
                            <a:sym typeface="Arial"/>
                          </a:endParaRPr>
                        </a:p>
                        <a:p>
                          <a:pPr marL="171450" lvl="1" indent="-1714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GB" sz="1200" b="0" i="0" u="none" strike="noStrike" cap="none" dirty="0">
                              <a:solidFill>
                                <a:schemeClr val="dk1"/>
                              </a:solidFill>
                              <a:latin typeface="Helvetica Neue Light"/>
                              <a:ea typeface="Helvetica Neue Light"/>
                              <a:cs typeface="Calibri"/>
                              <a:sym typeface="Arial"/>
                            </a:rPr>
                            <a:t>Event study (CAPM baseline):</a:t>
                          </a:r>
                          <a:r>
                            <a:rPr lang="en-GB" sz="1200" b="0" i="0" u="none" strike="noStrike" cap="none" baseline="0" dirty="0">
                              <a:solidFill>
                                <a:schemeClr val="dk1"/>
                              </a:solidFill>
                              <a:latin typeface="Helvetica Neue Light"/>
                              <a:ea typeface="Helvetica Neue Light"/>
                              <a:cs typeface="Calibri"/>
                              <a:sym typeface="Arial"/>
                            </a:rPr>
                            <a:t> </a:t>
                          </a:r>
                          <a:r>
                            <a:rPr lang="en-GB" sz="1200" b="0" i="0" u="none" strike="noStrike" cap="none" dirty="0">
                              <a:solidFill>
                                <a:schemeClr val="dk1"/>
                              </a:solidFill>
                              <a:latin typeface="Helvetica Neue Light"/>
                              <a:ea typeface="Helvetica Neue Light"/>
                              <a:cs typeface="Calibri"/>
                              <a:sym typeface="Arial"/>
                            </a:rPr>
                            <a:t>est. window 250d, gap 50d, event window [-10, +10] to estimate average CAR</a:t>
                          </a:r>
                          <a:endParaRPr lang="it-IT" sz="1200" b="0" i="0" u="none" strike="noStrike" cap="none" dirty="0">
                            <a:solidFill>
                              <a:schemeClr val="dk1"/>
                            </a:solidFill>
                            <a:latin typeface="Helvetica Neue Light"/>
                            <a:ea typeface="Helvetica Neue Light"/>
                            <a:cs typeface="Calibri"/>
                            <a:sym typeface="Arial"/>
                          </a:endParaRPr>
                        </a:p>
                        <a:p>
                          <a:pPr marL="171450" lvl="1" indent="-1714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GB" sz="1200" b="0" i="0" u="none" strike="noStrike" cap="none" dirty="0">
                              <a:solidFill>
                                <a:schemeClr val="dk1"/>
                              </a:solidFill>
                              <a:latin typeface="Helvetica Neue Light"/>
                              <a:ea typeface="Helvetica Neue Light"/>
                              <a:cs typeface="Calibri"/>
                              <a:sym typeface="Arial"/>
                            </a:rPr>
                            <a:t>Inference: Patell Z &amp; BMP tests, Good vs Bad (sentiment) comparisons, pre/post COP21 interaction, EU vs US splits</a:t>
                          </a:r>
                        </a:p>
                      </a:txBody>
                      <a:tcPr marL="68600" marR="68600" marT="34300" marB="343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D0CEC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4" name="Google Shape;134;p27"/>
              <p:cNvGraphicFramePr/>
              <p:nvPr>
                <p:extLst>
                  <p:ext uri="{D42A27DB-BD31-4B8C-83A1-F6EECF244321}">
                    <p14:modId xmlns:p14="http://schemas.microsoft.com/office/powerpoint/2010/main" val="2720907532"/>
                  </p:ext>
                </p:extLst>
              </p:nvPr>
            </p:nvGraphicFramePr>
            <p:xfrm>
              <a:off x="3598332" y="2732725"/>
              <a:ext cx="5079339" cy="1376612"/>
            </p:xfrm>
            <a:graphic>
              <a:graphicData uri="http://schemas.openxmlformats.org/drawingml/2006/table">
                <a:tbl>
                  <a:tblPr bandRow="1">
                    <a:noFill/>
                    <a:tableStyleId>{E624CCFC-DB04-4D98-B21B-F3D3B1768B92}</a:tableStyleId>
                  </a:tblPr>
                  <a:tblGrid>
                    <a:gridCol w="5079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376612">
                    <a:tc>
                      <a:txBody>
                        <a:bodyPr/>
                        <a:lstStyle/>
                        <a:p>
                          <a:endParaRPr lang="en-IT"/>
                        </a:p>
                      </a:txBody>
                      <a:tcPr marL="68600" marR="68600" marT="34300" marB="343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4"/>
                          <a:stretch>
                            <a:fillRect l="-249" t="-917" r="-249" b="-36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Google Shape;130;p27">
            <a:extLst>
              <a:ext uri="{FF2B5EF4-FFF2-40B4-BE49-F238E27FC236}">
                <a16:creationId xmlns:a16="http://schemas.microsoft.com/office/drawing/2014/main" id="{3CF4D94B-FA49-9A4B-4FD6-706D02BB0C7E}"/>
              </a:ext>
            </a:extLst>
          </p:cNvPr>
          <p:cNvSpPr/>
          <p:nvPr/>
        </p:nvSpPr>
        <p:spPr>
          <a:xfrm>
            <a:off x="666732" y="2416096"/>
            <a:ext cx="2594750" cy="3189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lang="en-GB" sz="1100" dirty="0"/>
          </a:p>
        </p:txBody>
      </p:sp>
      <p:sp>
        <p:nvSpPr>
          <p:cNvPr id="4" name="Google Shape;130;p27">
            <a:extLst>
              <a:ext uri="{FF2B5EF4-FFF2-40B4-BE49-F238E27FC236}">
                <a16:creationId xmlns:a16="http://schemas.microsoft.com/office/drawing/2014/main" id="{47C856A1-BB10-DFC1-2CF0-83D507DC983D}"/>
              </a:ext>
            </a:extLst>
          </p:cNvPr>
          <p:cNvSpPr/>
          <p:nvPr/>
        </p:nvSpPr>
        <p:spPr>
          <a:xfrm>
            <a:off x="3598331" y="2416096"/>
            <a:ext cx="5079339" cy="32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Models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>
            <a:spLocks noGrp="1"/>
          </p:cNvSpPr>
          <p:nvPr>
            <p:ph type="title"/>
          </p:nvPr>
        </p:nvSpPr>
        <p:spPr>
          <a:xfrm>
            <a:off x="351382" y="2257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None/>
            </a:pPr>
            <a:r>
              <a:rPr lang="en"/>
              <a:t>The Motivation</a:t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0" y="0"/>
            <a:ext cx="9144000" cy="901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401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title"/>
          </p:nvPr>
        </p:nvSpPr>
        <p:spPr>
          <a:xfrm>
            <a:off x="351382" y="2257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None/>
            </a:pPr>
            <a:r>
              <a:rPr lang="en" dirty="0"/>
              <a:t>2. Findings</a:t>
            </a:r>
            <a:endParaRPr dirty="0"/>
          </a:p>
        </p:txBody>
      </p:sp>
      <p:pic>
        <p:nvPicPr>
          <p:cNvPr id="216" name="Google Shape;216;p28" descr="Support Boccon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6616" y="341301"/>
            <a:ext cx="1574118" cy="34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7">
            <a:extLst>
              <a:ext uri="{FF2B5EF4-FFF2-40B4-BE49-F238E27FC236}">
                <a16:creationId xmlns:a16="http://schemas.microsoft.com/office/drawing/2014/main" id="{B74408E1-4EDE-F9BE-C908-EF7062929F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60024" y="4767275"/>
            <a:ext cx="3671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GB" dirty="0"/>
              <a:t>Finance for Big Data 2025 Hackathon – Group 2 (</a:t>
            </a:r>
            <a:r>
              <a:rPr lang="en-GB" dirty="0" err="1"/>
              <a:t>eda</a:t>
            </a:r>
            <a:r>
              <a:rPr lang="en-GB" dirty="0"/>
              <a:t>, task 4-5-6)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01F87A-8997-3718-CF9D-6F6B80D30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82" y="1241163"/>
            <a:ext cx="5330961" cy="3306545"/>
          </a:xfrm>
          <a:prstGeom prst="rect">
            <a:avLst/>
          </a:prstGeom>
        </p:spPr>
      </p:pic>
      <p:graphicFrame>
        <p:nvGraphicFramePr>
          <p:cNvPr id="5" name="Google Shape;133;p27">
            <a:extLst>
              <a:ext uri="{FF2B5EF4-FFF2-40B4-BE49-F238E27FC236}">
                <a16:creationId xmlns:a16="http://schemas.microsoft.com/office/drawing/2014/main" id="{F221CAC4-C7F7-960C-1CE9-BD44C1F509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7619375"/>
              </p:ext>
            </p:extLst>
          </p:nvPr>
        </p:nvGraphicFramePr>
        <p:xfrm>
          <a:off x="6079241" y="1869767"/>
          <a:ext cx="2594750" cy="2247920"/>
        </p:xfrm>
        <a:graphic>
          <a:graphicData uri="http://schemas.openxmlformats.org/drawingml/2006/table">
            <a:tbl>
              <a:tblPr bandRow="1">
                <a:noFill/>
                <a:tableStyleId>{E624CCFC-DB04-4D98-B21B-F3D3B1768B92}</a:tableStyleId>
              </a:tblPr>
              <a:tblGrid>
                <a:gridCol w="259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661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Negative stock reaction: </a:t>
                      </a:r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average CAAR around NGO is −2.5% over ±10 days.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Sentiment neutrality: </a:t>
                      </a:r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both “good” and “bad” campaigns lead to declines of similar size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Regional contrast: </a:t>
                      </a:r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effect is stronger and more consistent in Europe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Statistical support: </a:t>
                      </a:r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drop in stock prices is statistically significant, not random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No structural break: </a:t>
                      </a:r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no meaningful change in reactions after COP21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Google Shape;130;p27">
            <a:extLst>
              <a:ext uri="{FF2B5EF4-FFF2-40B4-BE49-F238E27FC236}">
                <a16:creationId xmlns:a16="http://schemas.microsoft.com/office/drawing/2014/main" id="{2A4A6742-E9C6-2659-1FA0-E9D173141CDC}"/>
              </a:ext>
            </a:extLst>
          </p:cNvPr>
          <p:cNvSpPr/>
          <p:nvPr/>
        </p:nvSpPr>
        <p:spPr>
          <a:xfrm>
            <a:off x="6079241" y="1550787"/>
            <a:ext cx="2594750" cy="3189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takeaways</a:t>
            </a:r>
            <a:endParaRPr lang="en-GB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>
            <a:spLocks noGrp="1"/>
          </p:cNvSpPr>
          <p:nvPr>
            <p:ph type="title"/>
          </p:nvPr>
        </p:nvSpPr>
        <p:spPr>
          <a:xfrm>
            <a:off x="351382" y="2257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None/>
            </a:pPr>
            <a:r>
              <a:rPr lang="en"/>
              <a:t>The data</a:t>
            </a:r>
            <a:endParaRPr/>
          </a:p>
        </p:txBody>
      </p:sp>
      <p:sp>
        <p:nvSpPr>
          <p:cNvPr id="259" name="Google Shape;259;p29"/>
          <p:cNvSpPr/>
          <p:nvPr/>
        </p:nvSpPr>
        <p:spPr>
          <a:xfrm>
            <a:off x="0" y="0"/>
            <a:ext cx="9144000" cy="901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401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 txBox="1">
            <a:spLocks noGrp="1"/>
          </p:cNvSpPr>
          <p:nvPr>
            <p:ph type="title"/>
          </p:nvPr>
        </p:nvSpPr>
        <p:spPr>
          <a:xfrm>
            <a:off x="351382" y="2257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None/>
            </a:pPr>
            <a:r>
              <a:rPr lang="en" dirty="0"/>
              <a:t>3. Next steps</a:t>
            </a:r>
            <a:endParaRPr dirty="0"/>
          </a:p>
        </p:txBody>
      </p:sp>
      <p:pic>
        <p:nvPicPr>
          <p:cNvPr id="261" name="Google Shape;261;p29" descr="Support Boccon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6616" y="341301"/>
            <a:ext cx="1574118" cy="34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7">
            <a:extLst>
              <a:ext uri="{FF2B5EF4-FFF2-40B4-BE49-F238E27FC236}">
                <a16:creationId xmlns:a16="http://schemas.microsoft.com/office/drawing/2014/main" id="{2CC4AA89-A5FB-D974-8F4F-1303CCCBA4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60024" y="4767275"/>
            <a:ext cx="3671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GB" dirty="0"/>
              <a:t>Finance for Big Data 2025 Hackathon – Group 2 (</a:t>
            </a:r>
            <a:r>
              <a:rPr lang="en-GB" dirty="0" err="1"/>
              <a:t>eda</a:t>
            </a:r>
            <a:r>
              <a:rPr lang="en-GB" dirty="0"/>
              <a:t>, task 4-5-6)</a:t>
            </a:r>
          </a:p>
        </p:txBody>
      </p:sp>
      <p:graphicFrame>
        <p:nvGraphicFramePr>
          <p:cNvPr id="7" name="Google Shape;133;p27">
            <a:extLst>
              <a:ext uri="{FF2B5EF4-FFF2-40B4-BE49-F238E27FC236}">
                <a16:creationId xmlns:a16="http://schemas.microsoft.com/office/drawing/2014/main" id="{EBD0BEDA-83D5-681D-2CAA-8C51CEEBB4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2305599"/>
              </p:ext>
            </p:extLst>
          </p:nvPr>
        </p:nvGraphicFramePr>
        <p:xfrm>
          <a:off x="648070" y="1712678"/>
          <a:ext cx="3671701" cy="2235269"/>
        </p:xfrm>
        <a:graphic>
          <a:graphicData uri="http://schemas.openxmlformats.org/drawingml/2006/table">
            <a:tbl>
              <a:tblPr bandRow="1">
                <a:noFill/>
                <a:tableStyleId>{E624CCFC-DB04-4D98-B21B-F3D3B1768B92}</a:tableStyleId>
              </a:tblPr>
              <a:tblGrid>
                <a:gridCol w="367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5269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Imbalanced sentiment data: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 dataset contains many more “bad” than “good” campaigns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Event timing issues: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some NGO campaign dates had to be snapped to nearby trading days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Matching uncertainty: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company name mismatches and limited overlap between </a:t>
                      </a:r>
                      <a:r>
                        <a:rPr lang="en-GB" sz="1200" b="0" i="0" u="none" strike="noStrike" cap="none" dirty="0" err="1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Sigwatch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 and bank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Model simplifications: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used CAPM/FF3 without accounting for other factors (size, momentum, macro shocks); assumes independent events and no cross-event contagion.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oogle Shape;134;p27">
            <a:extLst>
              <a:ext uri="{FF2B5EF4-FFF2-40B4-BE49-F238E27FC236}">
                <a16:creationId xmlns:a16="http://schemas.microsoft.com/office/drawing/2014/main" id="{77AC96CF-4F99-E550-08E6-DD3F28E09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2351681"/>
              </p:ext>
            </p:extLst>
          </p:nvPr>
        </p:nvGraphicFramePr>
        <p:xfrm>
          <a:off x="4933801" y="1714755"/>
          <a:ext cx="3671701" cy="2233191"/>
        </p:xfrm>
        <a:graphic>
          <a:graphicData uri="http://schemas.openxmlformats.org/drawingml/2006/table">
            <a:tbl>
              <a:tblPr bandRow="1">
                <a:noFill/>
                <a:tableStyleId>{E624CCFC-DB04-4D98-B21B-F3D3B1768B92}</a:tableStyleId>
              </a:tblPr>
              <a:tblGrid>
                <a:gridCol w="367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319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Enrich event data: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collect additional information from social media or news sources to capture campaign visibility and reach.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Improve sentiment quality: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reassess or refine </a:t>
                      </a:r>
                      <a:r>
                        <a:rPr lang="en-GB" sz="1200" b="0" i="0" u="none" strike="noStrike" cap="none" dirty="0" err="1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Sigwatch’s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 sentiment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Expand the factor model: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use the Fama–French 5-Factor (FF5)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Test multiple event windows: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add alternative CAR estimation horizons to check robustness.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Broaden geographic scope: </a:t>
                      </a: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Calibri"/>
                          <a:sym typeface="Arial"/>
                        </a:rPr>
                        <a:t>extend the sample globally beyond the US and EU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130;p27">
            <a:extLst>
              <a:ext uri="{FF2B5EF4-FFF2-40B4-BE49-F238E27FC236}">
                <a16:creationId xmlns:a16="http://schemas.microsoft.com/office/drawing/2014/main" id="{75FD1F9F-48D1-D257-9BBD-2A3822F48446}"/>
              </a:ext>
            </a:extLst>
          </p:cNvPr>
          <p:cNvSpPr/>
          <p:nvPr/>
        </p:nvSpPr>
        <p:spPr>
          <a:xfrm>
            <a:off x="648071" y="1401547"/>
            <a:ext cx="3671701" cy="3189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Limitations</a:t>
            </a:r>
            <a:endParaRPr lang="en-GB" dirty="0"/>
          </a:p>
        </p:txBody>
      </p:sp>
      <p:sp>
        <p:nvSpPr>
          <p:cNvPr id="10" name="Google Shape;130;p27">
            <a:extLst>
              <a:ext uri="{FF2B5EF4-FFF2-40B4-BE49-F238E27FC236}">
                <a16:creationId xmlns:a16="http://schemas.microsoft.com/office/drawing/2014/main" id="{438916A1-5C0B-C5C9-F42A-360EDCF15D9A}"/>
              </a:ext>
            </a:extLst>
          </p:cNvPr>
          <p:cNvSpPr/>
          <p:nvPr/>
        </p:nvSpPr>
        <p:spPr>
          <a:xfrm>
            <a:off x="4933800" y="1398127"/>
            <a:ext cx="3671701" cy="32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Possible improvements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451</Words>
  <Application>Microsoft Macintosh PowerPoint</Application>
  <PresentationFormat>On-screen Show (16:9)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Helvetica Neue Light</vt:lpstr>
      <vt:lpstr>Arial</vt:lpstr>
      <vt:lpstr>Calibri</vt:lpstr>
      <vt:lpstr>Helvetica Neue</vt:lpstr>
      <vt:lpstr>Simple Light</vt:lpstr>
      <vt:lpstr>Office Theme</vt:lpstr>
      <vt:lpstr>Impact of NGO Campaigns on Bank Stocks</vt:lpstr>
      <vt:lpstr>1. Methodologies</vt:lpstr>
      <vt:lpstr>The Motivation</vt:lpstr>
      <vt:lpstr>The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 MILANI</cp:lastModifiedBy>
  <cp:revision>6</cp:revision>
  <dcterms:modified xsi:type="dcterms:W3CDTF">2025-10-22T21:28:01Z</dcterms:modified>
</cp:coreProperties>
</file>